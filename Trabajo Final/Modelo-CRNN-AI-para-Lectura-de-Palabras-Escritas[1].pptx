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media/image10.svg" ContentType="image/svg+xml"/>
  <Override PartName="/ppt/media/image12.svg" ContentType="image/svg+xml"/>
  <Override PartName="/ppt/media/image14.svg" ContentType="image/svg+xml"/>
  <Override PartName="/ppt/media/image1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Lst>
  <p:sldSz cx="14630400" cy="8229600"/>
  <p:notesSz cx="8229600" cy="14630400"/>
  <p:embeddedFontLst>
    <p:embeddedFont>
      <p:font typeface="Ankh Sanctuary" panose="02000500000000000000" charset="0"/>
      <p:regular r:id="rId13"/>
    </p:embeddedFont>
    <p:embeddedFont>
      <p:font typeface="Montserrat Medium" pitchFamily="34" charset="0"/>
      <p:bold r:id="rId14"/>
    </p:embeddedFont>
    <p:embeddedFont>
      <p:font typeface="Montserrat Medium" pitchFamily="34" charset="-122"/>
      <p:bold r:id="rId15"/>
    </p:embeddedFont>
    <p:embeddedFont>
      <p:font typeface="Montserrat Medium" pitchFamily="34" charset="-120"/>
      <p:bold r:id="rId16"/>
    </p:embeddedFont>
    <p:embeddedFont>
      <p:font typeface="Calibri" panose="020F0502020204030204" charset="0"/>
      <p:regular r:id="rId17"/>
      <p:bold r:id="rId18"/>
      <p:italic r:id="rId19"/>
      <p:boldItalic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font" Target="fonts/font8.fntdata"/><Relationship Id="rId2" Type="http://schemas.openxmlformats.org/officeDocument/2006/relationships/theme" Target="theme/theme1.xml"/><Relationship Id="rId19" Type="http://schemas.openxmlformats.org/officeDocument/2006/relationships/font" Target="fonts/font7.fntdata"/><Relationship Id="rId18" Type="http://schemas.openxmlformats.org/officeDocument/2006/relationships/font" Target="fonts/font6.fntdata"/><Relationship Id="rId17" Type="http://schemas.openxmlformats.org/officeDocument/2006/relationships/font" Target="fonts/font5.fntdata"/><Relationship Id="rId16" Type="http://schemas.openxmlformats.org/officeDocument/2006/relationships/font" Target="fonts/font4.fntdata"/><Relationship Id="rId15" Type="http://schemas.openxmlformats.org/officeDocument/2006/relationships/font" Target="fonts/font3.fntdata"/><Relationship Id="rId14" Type="http://schemas.openxmlformats.org/officeDocument/2006/relationships/font" Target="fonts/font2.fntdata"/><Relationship Id="rId13" Type="http://schemas.openxmlformats.org/officeDocument/2006/relationships/font" Target="fonts/font1.fntdata"/><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p:spPr>
      </p:sp>
      <p:sp>
        <p:nvSpPr>
          <p:cNvPr id="3" name="Shape 1"/>
          <p:cNvSpPr/>
          <p:nvPr/>
        </p:nvSpPr>
        <p:spPr>
          <a:xfrm>
            <a:off x="0" y="0"/>
            <a:ext cx="14630400" cy="8229600"/>
          </a:xfrm>
          <a:prstGeom prst="rect">
            <a:avLst/>
          </a:prstGeom>
          <a:solidFill>
            <a:srgbClr val="5C2438"/>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p:spPr>
      </p:sp>
      <p:sp>
        <p:nvSpPr>
          <p:cNvPr id="3" name="Shape 1"/>
          <p:cNvSpPr/>
          <p:nvPr/>
        </p:nvSpPr>
        <p:spPr>
          <a:xfrm>
            <a:off x="0" y="0"/>
            <a:ext cx="14630400" cy="8229600"/>
          </a:xfrm>
          <a:prstGeom prst="rect">
            <a:avLst/>
          </a:prstGeom>
          <a:solidFill>
            <a:srgbClr val="5C2438"/>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p:spPr>
      </p:sp>
      <p:sp>
        <p:nvSpPr>
          <p:cNvPr id="3" name="Shape 1"/>
          <p:cNvSpPr/>
          <p:nvPr/>
        </p:nvSpPr>
        <p:spPr>
          <a:xfrm>
            <a:off x="0" y="0"/>
            <a:ext cx="14630400" cy="8229600"/>
          </a:xfrm>
          <a:prstGeom prst="rect">
            <a:avLst/>
          </a:prstGeom>
          <a:solidFill>
            <a:srgbClr val="5C2438"/>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p:spPr>
      </p:sp>
      <p:sp>
        <p:nvSpPr>
          <p:cNvPr id="3" name="Shape 1"/>
          <p:cNvSpPr/>
          <p:nvPr/>
        </p:nvSpPr>
        <p:spPr>
          <a:xfrm>
            <a:off x="0" y="0"/>
            <a:ext cx="14630400" cy="8229600"/>
          </a:xfrm>
          <a:prstGeom prst="rect">
            <a:avLst/>
          </a:prstGeom>
          <a:solidFill>
            <a:srgbClr val="5C2438"/>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p:spPr>
      </p:sp>
      <p:sp>
        <p:nvSpPr>
          <p:cNvPr id="3" name="Shape 1"/>
          <p:cNvSpPr/>
          <p:nvPr/>
        </p:nvSpPr>
        <p:spPr>
          <a:xfrm>
            <a:off x="0" y="0"/>
            <a:ext cx="14630400" cy="8229600"/>
          </a:xfrm>
          <a:prstGeom prst="rect">
            <a:avLst/>
          </a:prstGeom>
          <a:solidFill>
            <a:srgbClr val="5C2438"/>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p:spPr>
      </p:sp>
      <p:sp>
        <p:nvSpPr>
          <p:cNvPr id="3" name="Shape 1"/>
          <p:cNvSpPr/>
          <p:nvPr/>
        </p:nvSpPr>
        <p:spPr>
          <a:xfrm>
            <a:off x="0" y="0"/>
            <a:ext cx="14630400" cy="8229600"/>
          </a:xfrm>
          <a:prstGeom prst="rect">
            <a:avLst/>
          </a:prstGeom>
          <a:solidFill>
            <a:srgbClr val="5C2438"/>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4.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10.svg"/><Relationship Id="rId4" Type="http://schemas.openxmlformats.org/officeDocument/2006/relationships/image" Target="../media/image9.png"/><Relationship Id="rId3" Type="http://schemas.openxmlformats.org/officeDocument/2006/relationships/tags" Target="../tags/tag2.xml"/><Relationship Id="rId23" Type="http://schemas.openxmlformats.org/officeDocument/2006/relationships/notesSlide" Target="../notesSlides/notesSlide5.xml"/><Relationship Id="rId22" Type="http://schemas.openxmlformats.org/officeDocument/2006/relationships/slideLayout" Target="../slideLayouts/slideLayout6.xml"/><Relationship Id="rId21" Type="http://schemas.openxmlformats.org/officeDocument/2006/relationships/tags" Target="../tags/tag12.xml"/><Relationship Id="rId20" Type="http://schemas.openxmlformats.org/officeDocument/2006/relationships/image" Target="../media/image16.svg"/><Relationship Id="rId2" Type="http://schemas.openxmlformats.org/officeDocument/2006/relationships/tags" Target="../tags/tag1.xml"/><Relationship Id="rId19" Type="http://schemas.openxmlformats.org/officeDocument/2006/relationships/image" Target="../media/image15.png"/><Relationship Id="rId18" Type="http://schemas.openxmlformats.org/officeDocument/2006/relationships/tags" Target="../tags/tag11.xml"/><Relationship Id="rId17" Type="http://schemas.openxmlformats.org/officeDocument/2006/relationships/tags" Target="../tags/tag10.xml"/><Relationship Id="rId16" Type="http://schemas.openxmlformats.org/officeDocument/2006/relationships/tags" Target="../tags/tag9.xml"/><Relationship Id="rId15" Type="http://schemas.openxmlformats.org/officeDocument/2006/relationships/image" Target="../media/image14.svg"/><Relationship Id="rId14" Type="http://schemas.openxmlformats.org/officeDocument/2006/relationships/image" Target="../media/image13.png"/><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tags" Target="../tags/tag6.xml"/><Relationship Id="rId10" Type="http://schemas.openxmlformats.org/officeDocument/2006/relationships/image" Target="../media/image12.sv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35660" y="3044428"/>
            <a:ext cx="7645479" cy="2140625"/>
          </a:xfrm>
          <a:prstGeom prst="rect">
            <a:avLst/>
          </a:prstGeom>
          <a:noFill/>
        </p:spPr>
        <p:txBody>
          <a:bodyPr wrap="square" lIns="0" tIns="0" rIns="0" bIns="0" rtlCol="0" anchor="t"/>
          <a:lstStyle/>
          <a:p>
            <a:pPr marL="0" indent="0" algn="l">
              <a:lnSpc>
                <a:spcPts val="5600"/>
              </a:lnSpc>
              <a:buNone/>
            </a:pPr>
            <a:r>
              <a:rPr lang="en-US" altLang="es-ES" sz="4450" dirty="0">
                <a:solidFill>
                  <a:schemeClr val="accent2">
                    <a:lumMod val="40000"/>
                    <a:lumOff val="60000"/>
                  </a:schemeClr>
                </a:solidFill>
                <a:latin typeface="Ankh Sanctuary" panose="02000500000000000000" charset="0"/>
                <a:cs typeface="Ankh Sanctuary" panose="02000500000000000000" charset="0"/>
              </a:rPr>
              <a:t>Modelo Inteligente para Lectura y Deteccion de Palabras escritas a mano</a:t>
            </a:r>
            <a:endParaRPr lang="en-US" altLang="es-ES" sz="4450" dirty="0">
              <a:solidFill>
                <a:schemeClr val="accent2">
                  <a:lumMod val="40000"/>
                  <a:lumOff val="60000"/>
                </a:schemeClr>
              </a:solidFill>
              <a:latin typeface="Ankh Sanctuary" panose="02000500000000000000" charset="0"/>
              <a:cs typeface="Ankh Sanctuary" panose="02000500000000000000"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9021" y="580668"/>
            <a:ext cx="13152358" cy="1407795"/>
          </a:xfrm>
          <a:prstGeom prst="rect">
            <a:avLst/>
          </a:prstGeom>
          <a:noFill/>
        </p:spPr>
        <p:txBody>
          <a:bodyPr wrap="square" lIns="0" tIns="0" rIns="0" bIns="0" rtlCol="0" anchor="t"/>
          <a:lstStyle/>
          <a:p>
            <a:pPr marL="0" indent="0" algn="l">
              <a:lnSpc>
                <a:spcPts val="5500"/>
              </a:lnSpc>
              <a:buNone/>
            </a:pPr>
            <a:r>
              <a:rPr lang="en-US" sz="4400" b="1" dirty="0">
                <a:solidFill>
                  <a:srgbClr val="FFB393"/>
                </a:solidFill>
                <a:latin typeface="Brygada 1918 Bold" pitchFamily="34" charset="0"/>
                <a:ea typeface="Brygada 1918 Bold" pitchFamily="34" charset="-122"/>
                <a:cs typeface="Brygada 1918 Bold" pitchFamily="34" charset="-120"/>
              </a:rPr>
              <a:t>Desafío Actual: La Digitalización de Documentos Manuscritos</a:t>
            </a:r>
            <a:endParaRPr lang="en-US" sz="4400" dirty="0"/>
          </a:p>
        </p:txBody>
      </p:sp>
      <p:sp>
        <p:nvSpPr>
          <p:cNvPr id="4" name="Text 2"/>
          <p:cNvSpPr/>
          <p:nvPr/>
        </p:nvSpPr>
        <p:spPr>
          <a:xfrm>
            <a:off x="739021" y="4036814"/>
            <a:ext cx="7685365" cy="337899"/>
          </a:xfrm>
          <a:prstGeom prst="rect">
            <a:avLst/>
          </a:prstGeom>
          <a:noFill/>
        </p:spPr>
        <p:txBody>
          <a:bodyPr wrap="none" lIns="0" tIns="0" rIns="0" bIns="0" rtlCol="0" anchor="t"/>
          <a:lstStyle/>
          <a:p>
            <a:pPr marL="342900" indent="-342900" algn="l">
              <a:lnSpc>
                <a:spcPts val="2650"/>
              </a:lnSpc>
              <a:buSzPct val="100000"/>
              <a:buChar char="•"/>
            </a:pPr>
            <a:r>
              <a:rPr lang="en-US" sz="1650" dirty="0">
                <a:solidFill>
                  <a:srgbClr val="F4CAB8"/>
                </a:solidFill>
                <a:latin typeface="Montserrat Medium" pitchFamily="34" charset="0"/>
                <a:ea typeface="Montserrat Medium" pitchFamily="34" charset="-122"/>
                <a:cs typeface="Montserrat Medium" pitchFamily="34" charset="-120"/>
              </a:rPr>
              <a:t>Errores humanos en la transcripción.</a:t>
            </a:r>
            <a:endParaRPr lang="en-US" sz="1650" dirty="0"/>
          </a:p>
        </p:txBody>
      </p:sp>
      <p:sp>
        <p:nvSpPr>
          <p:cNvPr id="5" name="Text 3"/>
          <p:cNvSpPr/>
          <p:nvPr/>
        </p:nvSpPr>
        <p:spPr>
          <a:xfrm>
            <a:off x="739021" y="4448532"/>
            <a:ext cx="7685365" cy="337899"/>
          </a:xfrm>
          <a:prstGeom prst="rect">
            <a:avLst/>
          </a:prstGeom>
          <a:noFill/>
        </p:spPr>
        <p:txBody>
          <a:bodyPr wrap="none" lIns="0" tIns="0" rIns="0" bIns="0" rtlCol="0" anchor="t"/>
          <a:lstStyle/>
          <a:p>
            <a:pPr marL="342900" indent="-342900" algn="l">
              <a:lnSpc>
                <a:spcPts val="2650"/>
              </a:lnSpc>
              <a:buSzPct val="100000"/>
              <a:buChar char="•"/>
            </a:pPr>
            <a:r>
              <a:rPr lang="en-US" sz="1650" dirty="0">
                <a:solidFill>
                  <a:srgbClr val="F4CAB8"/>
                </a:solidFill>
                <a:latin typeface="Montserrat Medium" pitchFamily="34" charset="0"/>
                <a:ea typeface="Montserrat Medium" pitchFamily="34" charset="-122"/>
                <a:cs typeface="Montserrat Medium" pitchFamily="34" charset="-120"/>
              </a:rPr>
              <a:t>Lento procesamiento de datos.</a:t>
            </a:r>
            <a:endParaRPr lang="en-US" sz="1650" dirty="0"/>
          </a:p>
        </p:txBody>
      </p:sp>
      <p:sp>
        <p:nvSpPr>
          <p:cNvPr id="6" name="Text 4"/>
          <p:cNvSpPr/>
          <p:nvPr/>
        </p:nvSpPr>
        <p:spPr>
          <a:xfrm>
            <a:off x="739021" y="4860250"/>
            <a:ext cx="7685365" cy="337899"/>
          </a:xfrm>
          <a:prstGeom prst="rect">
            <a:avLst/>
          </a:prstGeom>
          <a:noFill/>
        </p:spPr>
        <p:txBody>
          <a:bodyPr wrap="none" lIns="0" tIns="0" rIns="0" bIns="0" rtlCol="0" anchor="t"/>
          <a:lstStyle/>
          <a:p>
            <a:pPr marL="342900" indent="-342900" algn="l">
              <a:lnSpc>
                <a:spcPts val="2650"/>
              </a:lnSpc>
              <a:buSzPct val="100000"/>
              <a:buChar char="•"/>
            </a:pPr>
            <a:r>
              <a:rPr lang="en-US" sz="1650" dirty="0">
                <a:solidFill>
                  <a:srgbClr val="F4CAB8"/>
                </a:solidFill>
                <a:latin typeface="Montserrat Medium" pitchFamily="34" charset="0"/>
                <a:ea typeface="Montserrat Medium" pitchFamily="34" charset="-122"/>
                <a:cs typeface="Montserrat Medium" pitchFamily="34" charset="-120"/>
              </a:rPr>
              <a:t>Dificultad para el análisis y la toma de decisiones rápidas.</a:t>
            </a:r>
            <a:endParaRPr lang="en-US" sz="1650" dirty="0"/>
          </a:p>
        </p:txBody>
      </p:sp>
      <p:sp>
        <p:nvSpPr>
          <p:cNvPr id="7" name="Text 5"/>
          <p:cNvSpPr/>
          <p:nvPr/>
        </p:nvSpPr>
        <p:spPr>
          <a:xfrm>
            <a:off x="739021" y="5271968"/>
            <a:ext cx="7685365" cy="337899"/>
          </a:xfrm>
          <a:prstGeom prst="rect">
            <a:avLst/>
          </a:prstGeom>
          <a:noFill/>
        </p:spPr>
        <p:txBody>
          <a:bodyPr wrap="none" lIns="0" tIns="0" rIns="0" bIns="0" rtlCol="0" anchor="t"/>
          <a:lstStyle/>
          <a:p>
            <a:pPr marL="342900" indent="-342900" algn="l">
              <a:lnSpc>
                <a:spcPts val="2650"/>
              </a:lnSpc>
              <a:buSzPct val="100000"/>
              <a:buChar char="•"/>
            </a:pPr>
            <a:r>
              <a:rPr lang="en-US" sz="1650" dirty="0">
                <a:solidFill>
                  <a:srgbClr val="F4CAB8"/>
                </a:solidFill>
                <a:latin typeface="Montserrat Medium" pitchFamily="34" charset="0"/>
                <a:ea typeface="Montserrat Medium" pitchFamily="34" charset="-122"/>
                <a:cs typeface="Montserrat Medium" pitchFamily="34" charset="-120"/>
              </a:rPr>
              <a:t>Retrasos en la actualización del inventario.</a:t>
            </a:r>
            <a:endParaRPr lang="en-US" sz="1650" dirty="0"/>
          </a:p>
        </p:txBody>
      </p:sp>
      <p:pic>
        <p:nvPicPr>
          <p:cNvPr id="9" name="Image 0" descr="preencoded.png"/>
          <p:cNvPicPr>
            <a:picLocks noChangeAspect="1"/>
          </p:cNvPicPr>
          <p:nvPr/>
        </p:nvPicPr>
        <p:blipFill>
          <a:blip r:embed="rId1"/>
          <a:stretch>
            <a:fillRect/>
          </a:stretch>
        </p:blipFill>
        <p:spPr>
          <a:xfrm>
            <a:off x="8947071" y="2542699"/>
            <a:ext cx="4951809" cy="495180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36111" y="227052"/>
            <a:ext cx="7870508" cy="1212771"/>
          </a:xfrm>
          <a:prstGeom prst="rect">
            <a:avLst/>
          </a:prstGeom>
          <a:noFill/>
        </p:spPr>
        <p:txBody>
          <a:bodyPr wrap="square" lIns="0" tIns="0" rIns="0" bIns="0" rtlCol="0" anchor="t"/>
          <a:lstStyle/>
          <a:p>
            <a:pPr marL="0" indent="0" algn="l">
              <a:lnSpc>
                <a:spcPts val="4750"/>
              </a:lnSpc>
              <a:buNone/>
            </a:pPr>
            <a:r>
              <a:rPr lang="en-US" sz="3800" b="1" dirty="0">
                <a:solidFill>
                  <a:srgbClr val="FFB393"/>
                </a:solidFill>
                <a:latin typeface="Brygada 1918 Bold" pitchFamily="34" charset="0"/>
                <a:ea typeface="Brygada 1918 Bold" pitchFamily="34" charset="-122"/>
                <a:cs typeface="Brygada 1918 Bold" pitchFamily="34" charset="-120"/>
              </a:rPr>
              <a:t>Introducción al Modelo </a:t>
            </a:r>
            <a:r>
              <a:rPr lang="es-MX" altLang="en-US" sz="3800" b="1" dirty="0">
                <a:solidFill>
                  <a:srgbClr val="FFB393"/>
                </a:solidFill>
                <a:latin typeface="Brygada 1918 Bold" pitchFamily="34" charset="0"/>
                <a:ea typeface="Brygada 1918 Bold" pitchFamily="34" charset="-122"/>
                <a:cs typeface="Brygada 1918 Bold" pitchFamily="34" charset="-120"/>
              </a:rPr>
              <a:t>Inteligente</a:t>
            </a:r>
            <a:r>
              <a:rPr lang="en-US" sz="3800" b="1" dirty="0">
                <a:solidFill>
                  <a:srgbClr val="FFB393"/>
                </a:solidFill>
                <a:latin typeface="Brygada 1918 Bold" pitchFamily="34" charset="0"/>
                <a:ea typeface="Brygada 1918 Bold" pitchFamily="34" charset="-122"/>
                <a:cs typeface="Brygada 1918 Bold" pitchFamily="34" charset="-120"/>
              </a:rPr>
              <a:t> Arquitectura y Funcionamiento</a:t>
            </a:r>
            <a:endParaRPr lang="en-US" sz="3800" dirty="0"/>
          </a:p>
        </p:txBody>
      </p:sp>
      <p:pic>
        <p:nvPicPr>
          <p:cNvPr id="4" name="Image 1" descr="preencoded.png"/>
          <p:cNvPicPr>
            <a:picLocks noChangeAspect="1"/>
          </p:cNvPicPr>
          <p:nvPr/>
        </p:nvPicPr>
        <p:blipFill>
          <a:blip r:embed="rId2"/>
          <a:stretch>
            <a:fillRect/>
          </a:stretch>
        </p:blipFill>
        <p:spPr>
          <a:xfrm>
            <a:off x="636746" y="2129909"/>
            <a:ext cx="909638" cy="1358146"/>
          </a:xfrm>
          <a:prstGeom prst="rect">
            <a:avLst/>
          </a:prstGeom>
        </p:spPr>
      </p:pic>
      <p:sp>
        <p:nvSpPr>
          <p:cNvPr id="5" name="Text 1"/>
          <p:cNvSpPr/>
          <p:nvPr/>
        </p:nvSpPr>
        <p:spPr>
          <a:xfrm>
            <a:off x="1728311" y="2614732"/>
            <a:ext cx="4758809" cy="303252"/>
          </a:xfrm>
          <a:prstGeom prst="rect">
            <a:avLst/>
          </a:prstGeom>
          <a:noFill/>
        </p:spPr>
        <p:txBody>
          <a:bodyPr wrap="none" lIns="0" tIns="0" rIns="0" bIns="0" rtlCol="0" anchor="t"/>
          <a:lstStyle/>
          <a:p>
            <a:pPr marL="0" indent="0" algn="l">
              <a:lnSpc>
                <a:spcPts val="2350"/>
              </a:lnSpc>
              <a:buNone/>
            </a:pPr>
            <a:r>
              <a:rPr lang="en-US" sz="1900" b="1" dirty="0">
                <a:solidFill>
                  <a:srgbClr val="F4CAB8"/>
                </a:solidFill>
                <a:latin typeface="Brygada 1918 Bold" pitchFamily="34" charset="0"/>
                <a:ea typeface="Brygada 1918 Bold" pitchFamily="34" charset="-122"/>
                <a:cs typeface="Brygada 1918 Bold" pitchFamily="34" charset="-120"/>
              </a:rPr>
              <a:t>Redes Neuronales Convolucionales (CNN)</a:t>
            </a:r>
            <a:endParaRPr lang="en-US" sz="1900" dirty="0"/>
          </a:p>
        </p:txBody>
      </p:sp>
      <p:pic>
        <p:nvPicPr>
          <p:cNvPr id="7" name="Image 2" descr="preencoded.png"/>
          <p:cNvPicPr>
            <a:picLocks noChangeAspect="1"/>
          </p:cNvPicPr>
          <p:nvPr/>
        </p:nvPicPr>
        <p:blipFill>
          <a:blip r:embed="rId3"/>
          <a:stretch>
            <a:fillRect/>
          </a:stretch>
        </p:blipFill>
        <p:spPr>
          <a:xfrm>
            <a:off x="636746" y="3488055"/>
            <a:ext cx="909638" cy="1358146"/>
          </a:xfrm>
          <a:prstGeom prst="rect">
            <a:avLst/>
          </a:prstGeom>
        </p:spPr>
      </p:pic>
      <p:sp>
        <p:nvSpPr>
          <p:cNvPr id="8" name="Text 3"/>
          <p:cNvSpPr/>
          <p:nvPr/>
        </p:nvSpPr>
        <p:spPr>
          <a:xfrm>
            <a:off x="1728311" y="3973512"/>
            <a:ext cx="4298394" cy="303252"/>
          </a:xfrm>
          <a:prstGeom prst="rect">
            <a:avLst/>
          </a:prstGeom>
          <a:noFill/>
        </p:spPr>
        <p:txBody>
          <a:bodyPr wrap="none" lIns="0" tIns="0" rIns="0" bIns="0" rtlCol="0" anchor="t"/>
          <a:lstStyle/>
          <a:p>
            <a:pPr marL="0" indent="0" algn="l">
              <a:lnSpc>
                <a:spcPts val="2350"/>
              </a:lnSpc>
              <a:buNone/>
            </a:pPr>
            <a:r>
              <a:rPr lang="en-US" sz="1900" b="1" dirty="0">
                <a:solidFill>
                  <a:srgbClr val="F4CAB8"/>
                </a:solidFill>
                <a:latin typeface="Brygada 1918 Bold" pitchFamily="34" charset="0"/>
                <a:ea typeface="Brygada 1918 Bold" pitchFamily="34" charset="-122"/>
                <a:cs typeface="Brygada 1918 Bold" pitchFamily="34" charset="-120"/>
              </a:rPr>
              <a:t>Redes Neuronales Recurrentes (RNN)</a:t>
            </a:r>
            <a:endParaRPr lang="en-US" sz="1900" dirty="0"/>
          </a:p>
        </p:txBody>
      </p:sp>
      <p:pic>
        <p:nvPicPr>
          <p:cNvPr id="10" name="Image 3" descr="preencoded.png"/>
          <p:cNvPicPr>
            <a:picLocks noChangeAspect="1"/>
          </p:cNvPicPr>
          <p:nvPr/>
        </p:nvPicPr>
        <p:blipFill>
          <a:blip r:embed="rId4"/>
          <a:stretch>
            <a:fillRect/>
          </a:stretch>
        </p:blipFill>
        <p:spPr>
          <a:xfrm>
            <a:off x="636746" y="4846201"/>
            <a:ext cx="909638" cy="1661398"/>
          </a:xfrm>
          <a:prstGeom prst="rect">
            <a:avLst/>
          </a:prstGeom>
        </p:spPr>
      </p:pic>
      <p:sp>
        <p:nvSpPr>
          <p:cNvPr id="11" name="Text 5"/>
          <p:cNvSpPr/>
          <p:nvPr/>
        </p:nvSpPr>
        <p:spPr>
          <a:xfrm>
            <a:off x="1727041" y="5374203"/>
            <a:ext cx="6778943" cy="606504"/>
          </a:xfrm>
          <a:prstGeom prst="rect">
            <a:avLst/>
          </a:prstGeom>
          <a:noFill/>
        </p:spPr>
        <p:txBody>
          <a:bodyPr wrap="square" lIns="0" tIns="0" rIns="0" bIns="0" rtlCol="0" anchor="t"/>
          <a:lstStyle/>
          <a:p>
            <a:pPr marL="0" indent="0" algn="l">
              <a:lnSpc>
                <a:spcPts val="2350"/>
              </a:lnSpc>
              <a:buNone/>
            </a:pPr>
            <a:r>
              <a:rPr lang="en-US" sz="1900" b="1" dirty="0">
                <a:solidFill>
                  <a:srgbClr val="F4CAB8"/>
                </a:solidFill>
                <a:latin typeface="Brygada 1918 Bold" pitchFamily="34" charset="0"/>
                <a:ea typeface="Brygada 1918 Bold" pitchFamily="34" charset="-122"/>
                <a:cs typeface="Brygada 1918 Bold" pitchFamily="34" charset="-120"/>
              </a:rPr>
              <a:t>Decodificación CTC (Connectionist Temporal Classification)</a:t>
            </a:r>
            <a:endParaRPr lang="en-US" sz="1900" dirty="0"/>
          </a:p>
        </p:txBody>
      </p:sp>
      <p:sp>
        <p:nvSpPr>
          <p:cNvPr id="13" name="Text 7"/>
          <p:cNvSpPr/>
          <p:nvPr/>
        </p:nvSpPr>
        <p:spPr>
          <a:xfrm>
            <a:off x="636746" y="6712268"/>
            <a:ext cx="7870508" cy="872966"/>
          </a:xfrm>
          <a:prstGeom prst="rect">
            <a:avLst/>
          </a:prstGeom>
          <a:noFill/>
        </p:spPr>
        <p:txBody>
          <a:bodyPr wrap="square" lIns="0" tIns="0" rIns="0" bIns="0" rtlCol="0" anchor="t"/>
          <a:lstStyle/>
          <a:p>
            <a:pPr marL="0" indent="0" algn="l">
              <a:lnSpc>
                <a:spcPts val="2250"/>
              </a:lnSpc>
              <a:buNone/>
            </a:pPr>
            <a:r>
              <a:rPr lang="en-US" sz="1400" dirty="0">
                <a:solidFill>
                  <a:srgbClr val="F4CAB8"/>
                </a:solidFill>
                <a:latin typeface="Montserrat Medium" pitchFamily="34" charset="0"/>
                <a:ea typeface="Montserrat Medium" pitchFamily="34" charset="-122"/>
                <a:cs typeface="Montserrat Medium" pitchFamily="34" charset="-120"/>
              </a:rPr>
              <a:t>El modelo CRNN (Convolutional Recurrent Neural Network) combina el poder de las CNN para el reconocimiento de patrones visuales con las RNN para el procesamiento de secuencias, permitiendo una lectura precisa del texto manuscrito.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4609" y="1187648"/>
            <a:ext cx="13261181" cy="1304211"/>
          </a:xfrm>
          <a:prstGeom prst="rect">
            <a:avLst/>
          </a:prstGeom>
          <a:noFill/>
        </p:spPr>
        <p:txBody>
          <a:bodyPr wrap="square" lIns="0" tIns="0" rIns="0" bIns="0" rtlCol="0" anchor="t"/>
          <a:lstStyle/>
          <a:p>
            <a:pPr marL="0" indent="0" algn="l">
              <a:lnSpc>
                <a:spcPts val="5100"/>
              </a:lnSpc>
              <a:buNone/>
            </a:pPr>
            <a:r>
              <a:rPr lang="en-US" sz="4100" b="1" dirty="0">
                <a:solidFill>
                  <a:srgbClr val="FFB393"/>
                </a:solidFill>
                <a:latin typeface="Brygada 1918 Bold" pitchFamily="34" charset="0"/>
                <a:ea typeface="Brygada 1918 Bold" pitchFamily="34" charset="-122"/>
                <a:cs typeface="Brygada 1918 Bold" pitchFamily="34" charset="-120"/>
              </a:rPr>
              <a:t>Aplicación Práctica: Del Escaneo a la Estructuración de Datos para el Software de Control</a:t>
            </a:r>
            <a:endParaRPr lang="en-US" sz="4100" dirty="0"/>
          </a:p>
        </p:txBody>
      </p:sp>
      <p:sp>
        <p:nvSpPr>
          <p:cNvPr id="3" name="Text 1"/>
          <p:cNvSpPr/>
          <p:nvPr/>
        </p:nvSpPr>
        <p:spPr>
          <a:xfrm>
            <a:off x="684609" y="2883098"/>
            <a:ext cx="195620" cy="244435"/>
          </a:xfrm>
          <a:prstGeom prst="rect">
            <a:avLst/>
          </a:prstGeom>
          <a:noFill/>
        </p:spPr>
        <p:txBody>
          <a:bodyPr wrap="none" lIns="0" tIns="0" rIns="0" bIns="0" rtlCol="0" anchor="t"/>
          <a:lstStyle/>
          <a:p>
            <a:pPr marL="0" indent="0" algn="l">
              <a:lnSpc>
                <a:spcPts val="2450"/>
              </a:lnSpc>
              <a:buNone/>
            </a:pPr>
            <a:r>
              <a:rPr lang="en-US" sz="1500" dirty="0">
                <a:solidFill>
                  <a:srgbClr val="F4CAB8"/>
                </a:solidFill>
                <a:latin typeface="Brygada 1918 Light" pitchFamily="34" charset="0"/>
                <a:ea typeface="Brygada 1918 Light" pitchFamily="34" charset="-122"/>
                <a:cs typeface="Brygada 1918 Light" pitchFamily="34" charset="-120"/>
              </a:rPr>
              <a:t>01</a:t>
            </a:r>
            <a:endParaRPr lang="en-US" sz="1500" dirty="0"/>
          </a:p>
        </p:txBody>
      </p:sp>
      <p:sp>
        <p:nvSpPr>
          <p:cNvPr id="4" name="Shape 2"/>
          <p:cNvSpPr/>
          <p:nvPr/>
        </p:nvSpPr>
        <p:spPr>
          <a:xfrm>
            <a:off x="684609" y="3192542"/>
            <a:ext cx="4289941" cy="22860"/>
          </a:xfrm>
          <a:prstGeom prst="rect">
            <a:avLst/>
          </a:prstGeom>
          <a:solidFill>
            <a:srgbClr val="FFB393"/>
          </a:solidFill>
        </p:spPr>
      </p:sp>
      <p:sp>
        <p:nvSpPr>
          <p:cNvPr id="5" name="Text 3"/>
          <p:cNvSpPr/>
          <p:nvPr/>
        </p:nvSpPr>
        <p:spPr>
          <a:xfrm>
            <a:off x="880110" y="3324225"/>
            <a:ext cx="3519805" cy="1212850"/>
          </a:xfrm>
          <a:prstGeom prst="rect">
            <a:avLst/>
          </a:prstGeom>
          <a:noFill/>
        </p:spPr>
        <p:txBody>
          <a:bodyPr wrap="none" lIns="0" tIns="0" rIns="0" bIns="0" rtlCol="0" anchor="t"/>
          <a:lstStyle/>
          <a:p>
            <a:pPr marL="0" indent="0" algn="l">
              <a:lnSpc>
                <a:spcPts val="2550"/>
              </a:lnSpc>
              <a:buNone/>
            </a:pPr>
            <a:r>
              <a:rPr lang="en-US" sz="2050" b="1" dirty="0">
                <a:solidFill>
                  <a:srgbClr val="F4CAB8"/>
                </a:solidFill>
                <a:latin typeface="Brygada 1918 Bold" pitchFamily="34" charset="0"/>
                <a:ea typeface="Brygada 1918 Bold" pitchFamily="34" charset="-122"/>
                <a:cs typeface="Brygada 1918 Bold" pitchFamily="34" charset="-120"/>
              </a:rPr>
              <a:t>1. Digitalización de</a:t>
            </a:r>
            <a:endParaRPr lang="en-US" sz="2050" b="1" dirty="0">
              <a:solidFill>
                <a:srgbClr val="F4CAB8"/>
              </a:solidFill>
              <a:latin typeface="Brygada 1918 Bold" pitchFamily="34" charset="0"/>
              <a:ea typeface="Brygada 1918 Bold" pitchFamily="34" charset="-122"/>
              <a:cs typeface="Brygada 1918 Bold" pitchFamily="34" charset="-120"/>
            </a:endParaRPr>
          </a:p>
          <a:p>
            <a:pPr marL="0" indent="0" algn="l">
              <a:lnSpc>
                <a:spcPts val="2550"/>
              </a:lnSpc>
              <a:buNone/>
            </a:pPr>
            <a:r>
              <a:rPr lang="en-US" sz="2050" b="1" dirty="0">
                <a:solidFill>
                  <a:srgbClr val="F4CAB8"/>
                </a:solidFill>
                <a:latin typeface="Brygada 1918 Bold" pitchFamily="34" charset="0"/>
                <a:ea typeface="Brygada 1918 Bold" pitchFamily="34" charset="-122"/>
                <a:cs typeface="Brygada 1918 Bold" pitchFamily="34" charset="-120"/>
              </a:rPr>
              <a:t>Documentos</a:t>
            </a:r>
            <a:endParaRPr lang="en-US" sz="2050" dirty="0"/>
          </a:p>
        </p:txBody>
      </p:sp>
      <p:sp>
        <p:nvSpPr>
          <p:cNvPr id="7" name="Text 5"/>
          <p:cNvSpPr/>
          <p:nvPr/>
        </p:nvSpPr>
        <p:spPr>
          <a:xfrm>
            <a:off x="5170170" y="2883098"/>
            <a:ext cx="195620" cy="244435"/>
          </a:xfrm>
          <a:prstGeom prst="rect">
            <a:avLst/>
          </a:prstGeom>
          <a:noFill/>
        </p:spPr>
        <p:txBody>
          <a:bodyPr wrap="none" lIns="0" tIns="0" rIns="0" bIns="0" rtlCol="0" anchor="t"/>
          <a:lstStyle/>
          <a:p>
            <a:pPr marL="0" indent="0" algn="l">
              <a:lnSpc>
                <a:spcPts val="2450"/>
              </a:lnSpc>
              <a:buNone/>
            </a:pPr>
            <a:r>
              <a:rPr lang="en-US" sz="1500" dirty="0">
                <a:solidFill>
                  <a:srgbClr val="F4CAB8"/>
                </a:solidFill>
                <a:latin typeface="Brygada 1918 Light" pitchFamily="34" charset="0"/>
                <a:ea typeface="Brygada 1918 Light" pitchFamily="34" charset="-122"/>
                <a:cs typeface="Brygada 1918 Light" pitchFamily="34" charset="-120"/>
              </a:rPr>
              <a:t>02</a:t>
            </a:r>
            <a:endParaRPr lang="en-US" sz="1500" dirty="0"/>
          </a:p>
        </p:txBody>
      </p:sp>
      <p:sp>
        <p:nvSpPr>
          <p:cNvPr id="8" name="Shape 6"/>
          <p:cNvSpPr/>
          <p:nvPr/>
        </p:nvSpPr>
        <p:spPr>
          <a:xfrm>
            <a:off x="5170170" y="3192542"/>
            <a:ext cx="4289941" cy="22860"/>
          </a:xfrm>
          <a:prstGeom prst="rect">
            <a:avLst/>
          </a:prstGeom>
          <a:solidFill>
            <a:srgbClr val="FFB393"/>
          </a:solidFill>
        </p:spPr>
      </p:sp>
      <p:sp>
        <p:nvSpPr>
          <p:cNvPr id="9" name="Text 7"/>
          <p:cNvSpPr/>
          <p:nvPr/>
        </p:nvSpPr>
        <p:spPr>
          <a:xfrm>
            <a:off x="5170170" y="3336290"/>
            <a:ext cx="3808095" cy="899795"/>
          </a:xfrm>
          <a:prstGeom prst="rect">
            <a:avLst/>
          </a:prstGeom>
          <a:noFill/>
        </p:spPr>
        <p:txBody>
          <a:bodyPr wrap="none" lIns="0" tIns="0" rIns="0" bIns="0" rtlCol="0" anchor="t"/>
          <a:lstStyle/>
          <a:p>
            <a:pPr marL="0" indent="0" algn="l">
              <a:lnSpc>
                <a:spcPts val="2550"/>
              </a:lnSpc>
              <a:buNone/>
            </a:pPr>
            <a:r>
              <a:rPr lang="en-US" sz="2050" b="1" dirty="0">
                <a:solidFill>
                  <a:srgbClr val="F4CAB8"/>
                </a:solidFill>
                <a:latin typeface="Brygada 1918 Bold" pitchFamily="34" charset="0"/>
                <a:ea typeface="Brygada 1918 Bold" pitchFamily="34" charset="-122"/>
                <a:cs typeface="Brygada 1918 Bold" pitchFamily="34" charset="-120"/>
              </a:rPr>
              <a:t>2. Preprocesamiento </a:t>
            </a:r>
            <a:endParaRPr lang="en-US" sz="2050" b="1" dirty="0">
              <a:solidFill>
                <a:srgbClr val="F4CAB8"/>
              </a:solidFill>
              <a:latin typeface="Brygada 1918 Bold" pitchFamily="34" charset="0"/>
              <a:ea typeface="Brygada 1918 Bold" pitchFamily="34" charset="-122"/>
              <a:cs typeface="Brygada 1918 Bold" pitchFamily="34" charset="-120"/>
            </a:endParaRPr>
          </a:p>
          <a:p>
            <a:pPr marL="0" indent="0" algn="l">
              <a:lnSpc>
                <a:spcPts val="2550"/>
              </a:lnSpc>
              <a:buNone/>
            </a:pPr>
            <a:r>
              <a:rPr lang="en-US" sz="2050" b="1" dirty="0">
                <a:solidFill>
                  <a:srgbClr val="F4CAB8"/>
                </a:solidFill>
                <a:latin typeface="Brygada 1918 Bold" pitchFamily="34" charset="0"/>
                <a:ea typeface="Brygada 1918 Bold" pitchFamily="34" charset="-122"/>
                <a:cs typeface="Brygada 1918 Bold" pitchFamily="34" charset="-120"/>
              </a:rPr>
              <a:t>de Imágenes</a:t>
            </a:r>
            <a:endParaRPr lang="en-US" sz="2050" dirty="0"/>
          </a:p>
        </p:txBody>
      </p:sp>
      <p:sp>
        <p:nvSpPr>
          <p:cNvPr id="11" name="Text 9"/>
          <p:cNvSpPr/>
          <p:nvPr/>
        </p:nvSpPr>
        <p:spPr>
          <a:xfrm>
            <a:off x="9655731" y="2883098"/>
            <a:ext cx="195620" cy="244435"/>
          </a:xfrm>
          <a:prstGeom prst="rect">
            <a:avLst/>
          </a:prstGeom>
          <a:noFill/>
        </p:spPr>
        <p:txBody>
          <a:bodyPr wrap="none" lIns="0" tIns="0" rIns="0" bIns="0" rtlCol="0" anchor="t"/>
          <a:lstStyle/>
          <a:p>
            <a:pPr marL="0" indent="0" algn="l">
              <a:lnSpc>
                <a:spcPts val="2450"/>
              </a:lnSpc>
              <a:buNone/>
            </a:pPr>
            <a:r>
              <a:rPr lang="en-US" sz="1500" dirty="0">
                <a:solidFill>
                  <a:srgbClr val="F4CAB8"/>
                </a:solidFill>
                <a:latin typeface="Brygada 1918 Light" pitchFamily="34" charset="0"/>
                <a:ea typeface="Brygada 1918 Light" pitchFamily="34" charset="-122"/>
                <a:cs typeface="Brygada 1918 Light" pitchFamily="34" charset="-120"/>
              </a:rPr>
              <a:t>03</a:t>
            </a:r>
            <a:endParaRPr lang="en-US" sz="1500" dirty="0"/>
          </a:p>
        </p:txBody>
      </p:sp>
      <p:sp>
        <p:nvSpPr>
          <p:cNvPr id="12" name="Shape 10"/>
          <p:cNvSpPr/>
          <p:nvPr/>
        </p:nvSpPr>
        <p:spPr>
          <a:xfrm>
            <a:off x="9655731" y="3192542"/>
            <a:ext cx="4290060" cy="22860"/>
          </a:xfrm>
          <a:prstGeom prst="rect">
            <a:avLst/>
          </a:prstGeom>
          <a:solidFill>
            <a:srgbClr val="FFB393"/>
          </a:solidFill>
        </p:spPr>
      </p:sp>
      <p:sp>
        <p:nvSpPr>
          <p:cNvPr id="13" name="Text 11"/>
          <p:cNvSpPr/>
          <p:nvPr/>
        </p:nvSpPr>
        <p:spPr>
          <a:xfrm>
            <a:off x="9655731" y="3336012"/>
            <a:ext cx="3503414" cy="325993"/>
          </a:xfrm>
          <a:prstGeom prst="rect">
            <a:avLst/>
          </a:prstGeom>
          <a:noFill/>
        </p:spPr>
        <p:txBody>
          <a:bodyPr wrap="none" lIns="0" tIns="0" rIns="0" bIns="0" rtlCol="0" anchor="t"/>
          <a:lstStyle/>
          <a:p>
            <a:pPr marL="0" indent="0" algn="l">
              <a:lnSpc>
                <a:spcPts val="2550"/>
              </a:lnSpc>
              <a:buNone/>
            </a:pPr>
            <a:r>
              <a:rPr lang="en-US" sz="2050" b="1" dirty="0">
                <a:solidFill>
                  <a:srgbClr val="F4CAB8"/>
                </a:solidFill>
                <a:latin typeface="Brygada 1918 Bold" pitchFamily="34" charset="0"/>
                <a:ea typeface="Brygada 1918 Bold" pitchFamily="34" charset="-122"/>
                <a:cs typeface="Brygada 1918 Bold" pitchFamily="34" charset="-120"/>
              </a:rPr>
              <a:t>3. Reconocimiento </a:t>
            </a:r>
            <a:r>
              <a:rPr lang="es-MX" altLang="en-US" sz="2050" b="1" dirty="0">
                <a:solidFill>
                  <a:srgbClr val="F4CAB8"/>
                </a:solidFill>
                <a:latin typeface="Brygada 1918 Bold" pitchFamily="34" charset="0"/>
                <a:ea typeface="Brygada 1918 Bold" pitchFamily="34" charset="-122"/>
                <a:cs typeface="Brygada 1918 Bold" pitchFamily="34" charset="-120"/>
              </a:rPr>
              <a:t>Utilizando</a:t>
            </a:r>
            <a:endParaRPr lang="es-MX" altLang="en-US" sz="2050" b="1" dirty="0">
              <a:solidFill>
                <a:srgbClr val="F4CAB8"/>
              </a:solidFill>
              <a:latin typeface="Brygada 1918 Bold" pitchFamily="34" charset="0"/>
              <a:ea typeface="Brygada 1918 Bold" pitchFamily="34" charset="-122"/>
              <a:cs typeface="Brygada 1918 Bold" pitchFamily="34" charset="-120"/>
            </a:endParaRPr>
          </a:p>
          <a:p>
            <a:pPr marL="0" indent="0" algn="l">
              <a:lnSpc>
                <a:spcPts val="2550"/>
              </a:lnSpc>
              <a:buNone/>
            </a:pPr>
            <a:r>
              <a:rPr lang="es-MX" altLang="en-US" sz="2050" b="1" dirty="0">
                <a:solidFill>
                  <a:srgbClr val="F4CAB8"/>
                </a:solidFill>
                <a:latin typeface="Brygada 1918 Bold" pitchFamily="34" charset="0"/>
                <a:ea typeface="Brygada 1918 Bold" pitchFamily="34" charset="-122"/>
                <a:cs typeface="Brygada 1918 Bold" pitchFamily="34" charset="-120"/>
              </a:rPr>
              <a:t>el modelo </a:t>
            </a:r>
            <a:r>
              <a:rPr lang="en-US" sz="2050" b="1" dirty="0">
                <a:solidFill>
                  <a:srgbClr val="F4CAB8"/>
                </a:solidFill>
                <a:latin typeface="Brygada 1918 Bold" pitchFamily="34" charset="0"/>
                <a:ea typeface="Brygada 1918 Bold" pitchFamily="34" charset="-122"/>
                <a:cs typeface="Brygada 1918 Bold" pitchFamily="34" charset="-120"/>
              </a:rPr>
              <a:t>CRNN</a:t>
            </a:r>
            <a:endParaRPr lang="en-US" sz="2050" dirty="0"/>
          </a:p>
        </p:txBody>
      </p:sp>
      <p:sp>
        <p:nvSpPr>
          <p:cNvPr id="15" name="Text 13"/>
          <p:cNvSpPr/>
          <p:nvPr/>
        </p:nvSpPr>
        <p:spPr>
          <a:xfrm>
            <a:off x="684609" y="5060275"/>
            <a:ext cx="195620" cy="244435"/>
          </a:xfrm>
          <a:prstGeom prst="rect">
            <a:avLst/>
          </a:prstGeom>
          <a:noFill/>
        </p:spPr>
        <p:txBody>
          <a:bodyPr wrap="none" lIns="0" tIns="0" rIns="0" bIns="0" rtlCol="0" anchor="t"/>
          <a:lstStyle/>
          <a:p>
            <a:pPr marL="0" indent="0" algn="l">
              <a:lnSpc>
                <a:spcPts val="2450"/>
              </a:lnSpc>
              <a:buNone/>
            </a:pPr>
            <a:r>
              <a:rPr lang="en-US" sz="1500" dirty="0">
                <a:solidFill>
                  <a:srgbClr val="F4CAB8"/>
                </a:solidFill>
                <a:latin typeface="Brygada 1918 Light" pitchFamily="34" charset="0"/>
                <a:ea typeface="Brygada 1918 Light" pitchFamily="34" charset="-122"/>
                <a:cs typeface="Brygada 1918 Light" pitchFamily="34" charset="-120"/>
              </a:rPr>
              <a:t>04</a:t>
            </a:r>
            <a:endParaRPr lang="en-US" sz="1500" dirty="0"/>
          </a:p>
        </p:txBody>
      </p:sp>
      <p:sp>
        <p:nvSpPr>
          <p:cNvPr id="16" name="Shape 14"/>
          <p:cNvSpPr/>
          <p:nvPr/>
        </p:nvSpPr>
        <p:spPr>
          <a:xfrm>
            <a:off x="684609" y="5369719"/>
            <a:ext cx="6532721" cy="22860"/>
          </a:xfrm>
          <a:prstGeom prst="rect">
            <a:avLst/>
          </a:prstGeom>
          <a:solidFill>
            <a:srgbClr val="FFB393"/>
          </a:solidFill>
        </p:spPr>
      </p:sp>
      <p:sp>
        <p:nvSpPr>
          <p:cNvPr id="17" name="Text 15"/>
          <p:cNvSpPr/>
          <p:nvPr/>
        </p:nvSpPr>
        <p:spPr>
          <a:xfrm>
            <a:off x="684609" y="5513189"/>
            <a:ext cx="3322439" cy="325993"/>
          </a:xfrm>
          <a:prstGeom prst="rect">
            <a:avLst/>
          </a:prstGeom>
          <a:noFill/>
        </p:spPr>
        <p:txBody>
          <a:bodyPr wrap="none" lIns="0" tIns="0" rIns="0" bIns="0" rtlCol="0" anchor="t"/>
          <a:lstStyle/>
          <a:p>
            <a:pPr marL="0" indent="0" algn="l">
              <a:lnSpc>
                <a:spcPts val="2550"/>
              </a:lnSpc>
              <a:buNone/>
            </a:pPr>
            <a:r>
              <a:rPr lang="en-US" sz="2050" b="1" dirty="0">
                <a:solidFill>
                  <a:srgbClr val="F4CAB8"/>
                </a:solidFill>
                <a:latin typeface="Brygada 1918 Bold" pitchFamily="34" charset="0"/>
                <a:ea typeface="Brygada 1918 Bold" pitchFamily="34" charset="-122"/>
                <a:cs typeface="Brygada 1918 Bold" pitchFamily="34" charset="-120"/>
              </a:rPr>
              <a:t>4. Estructuración de Datos</a:t>
            </a:r>
            <a:endParaRPr lang="en-US" sz="2050" dirty="0"/>
          </a:p>
        </p:txBody>
      </p:sp>
      <p:sp>
        <p:nvSpPr>
          <p:cNvPr id="19" name="Text 17"/>
          <p:cNvSpPr/>
          <p:nvPr/>
        </p:nvSpPr>
        <p:spPr>
          <a:xfrm>
            <a:off x="7412950" y="5060275"/>
            <a:ext cx="195620" cy="244435"/>
          </a:xfrm>
          <a:prstGeom prst="rect">
            <a:avLst/>
          </a:prstGeom>
          <a:noFill/>
        </p:spPr>
        <p:txBody>
          <a:bodyPr wrap="none" lIns="0" tIns="0" rIns="0" bIns="0" rtlCol="0" anchor="t"/>
          <a:lstStyle/>
          <a:p>
            <a:pPr marL="0" indent="0" algn="l">
              <a:lnSpc>
                <a:spcPts val="2450"/>
              </a:lnSpc>
              <a:buNone/>
            </a:pPr>
            <a:r>
              <a:rPr lang="en-US" sz="1500" dirty="0">
                <a:solidFill>
                  <a:srgbClr val="F4CAB8"/>
                </a:solidFill>
                <a:latin typeface="Brygada 1918 Light" pitchFamily="34" charset="0"/>
                <a:ea typeface="Brygada 1918 Light" pitchFamily="34" charset="-122"/>
                <a:cs typeface="Brygada 1918 Light" pitchFamily="34" charset="-120"/>
              </a:rPr>
              <a:t>05</a:t>
            </a:r>
            <a:endParaRPr lang="en-US" sz="1500" dirty="0"/>
          </a:p>
        </p:txBody>
      </p:sp>
      <p:sp>
        <p:nvSpPr>
          <p:cNvPr id="20" name="Shape 18"/>
          <p:cNvSpPr/>
          <p:nvPr/>
        </p:nvSpPr>
        <p:spPr>
          <a:xfrm>
            <a:off x="7412950" y="5369719"/>
            <a:ext cx="6532840" cy="22860"/>
          </a:xfrm>
          <a:prstGeom prst="rect">
            <a:avLst/>
          </a:prstGeom>
          <a:solidFill>
            <a:srgbClr val="FFB393"/>
          </a:solidFill>
        </p:spPr>
      </p:sp>
      <p:sp>
        <p:nvSpPr>
          <p:cNvPr id="21" name="Text 19"/>
          <p:cNvSpPr/>
          <p:nvPr/>
        </p:nvSpPr>
        <p:spPr>
          <a:xfrm>
            <a:off x="7412950" y="5513189"/>
            <a:ext cx="4416862" cy="325993"/>
          </a:xfrm>
          <a:prstGeom prst="rect">
            <a:avLst/>
          </a:prstGeom>
          <a:noFill/>
        </p:spPr>
        <p:txBody>
          <a:bodyPr wrap="none" lIns="0" tIns="0" rIns="0" bIns="0" rtlCol="0" anchor="t"/>
          <a:lstStyle/>
          <a:p>
            <a:pPr marL="0" indent="0" algn="l">
              <a:lnSpc>
                <a:spcPts val="2550"/>
              </a:lnSpc>
              <a:buNone/>
            </a:pPr>
            <a:r>
              <a:rPr lang="en-US" sz="2050" b="1" dirty="0">
                <a:solidFill>
                  <a:srgbClr val="F4CAB8"/>
                </a:solidFill>
                <a:latin typeface="Brygada 1918 Bold" pitchFamily="34" charset="0"/>
                <a:ea typeface="Brygada 1918 Bold" pitchFamily="34" charset="-122"/>
                <a:cs typeface="Brygada 1918 Bold" pitchFamily="34" charset="-120"/>
              </a:rPr>
              <a:t>5. Integración con el Software</a:t>
            </a:r>
            <a:endParaRPr lang="en-US" sz="2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957"/>
          </a:xfrm>
          <a:prstGeom prst="rect">
            <a:avLst/>
          </a:prstGeom>
        </p:spPr>
      </p:pic>
      <p:sp>
        <p:nvSpPr>
          <p:cNvPr id="3" name="Text 0"/>
          <p:cNvSpPr/>
          <p:nvPr/>
        </p:nvSpPr>
        <p:spPr>
          <a:xfrm>
            <a:off x="622935" y="489466"/>
            <a:ext cx="7898130" cy="1779865"/>
          </a:xfrm>
          <a:prstGeom prst="rect">
            <a:avLst/>
          </a:prstGeom>
          <a:noFill/>
        </p:spPr>
        <p:txBody>
          <a:bodyPr wrap="square" lIns="0" tIns="0" rIns="0" bIns="0" rtlCol="0" anchor="t"/>
          <a:lstStyle/>
          <a:p>
            <a:pPr marL="0" indent="0" algn="l">
              <a:lnSpc>
                <a:spcPts val="4650"/>
              </a:lnSpc>
              <a:buNone/>
            </a:pPr>
            <a:r>
              <a:rPr lang="en-US" sz="3700" b="1" dirty="0">
                <a:solidFill>
                  <a:srgbClr val="FFB393"/>
                </a:solidFill>
                <a:latin typeface="Brygada 1918 Bold" pitchFamily="34" charset="0"/>
                <a:ea typeface="Brygada 1918 Bold" pitchFamily="34" charset="-122"/>
                <a:cs typeface="Brygada 1918 Bold" pitchFamily="34" charset="-120"/>
              </a:rPr>
              <a:t>Beneficios Clave: Eficiencia, Reducción de Errores y Automatización</a:t>
            </a:r>
            <a:endParaRPr lang="en-US" sz="3700" dirty="0"/>
          </a:p>
        </p:txBody>
      </p:sp>
      <p:sp>
        <p:nvSpPr>
          <p:cNvPr id="4" name="Shape 1"/>
          <p:cNvSpPr/>
          <p:nvPr>
            <p:custDataLst>
              <p:tags r:id="rId2"/>
            </p:custDataLst>
          </p:nvPr>
        </p:nvSpPr>
        <p:spPr>
          <a:xfrm>
            <a:off x="622935" y="2536269"/>
            <a:ext cx="400407" cy="400407"/>
          </a:xfrm>
          <a:prstGeom prst="roundRect">
            <a:avLst>
              <a:gd name="adj" fmla="val 6668"/>
            </a:avLst>
          </a:prstGeom>
          <a:solidFill>
            <a:srgbClr val="4D1529"/>
          </a:solidFill>
        </p:spPr>
      </p:sp>
      <p:pic>
        <p:nvPicPr>
          <p:cNvPr id="5" name="Image 1" descr="preencoded.png"/>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680680" y="2594015"/>
            <a:ext cx="284798" cy="284798"/>
          </a:xfrm>
          <a:prstGeom prst="rect">
            <a:avLst/>
          </a:prstGeom>
        </p:spPr>
      </p:pic>
      <p:sp>
        <p:nvSpPr>
          <p:cNvPr id="6" name="Text 2"/>
          <p:cNvSpPr/>
          <p:nvPr>
            <p:custDataLst>
              <p:tags r:id="rId6"/>
            </p:custDataLst>
          </p:nvPr>
        </p:nvSpPr>
        <p:spPr>
          <a:xfrm>
            <a:off x="1201341" y="2597348"/>
            <a:ext cx="2853928" cy="296585"/>
          </a:xfrm>
          <a:prstGeom prst="rect">
            <a:avLst/>
          </a:prstGeom>
          <a:noFill/>
        </p:spPr>
        <p:txBody>
          <a:bodyPr wrap="none" lIns="0" tIns="0" rIns="0" bIns="0" rtlCol="0" anchor="t"/>
          <a:lstStyle/>
          <a:p>
            <a:pPr marL="0" indent="0" algn="l">
              <a:lnSpc>
                <a:spcPts val="2300"/>
              </a:lnSpc>
              <a:buNone/>
            </a:pPr>
            <a:r>
              <a:rPr lang="en-US" sz="1850" b="1" dirty="0">
                <a:solidFill>
                  <a:srgbClr val="F4CAB8"/>
                </a:solidFill>
                <a:latin typeface="Brygada 1918 Bold" pitchFamily="34" charset="0"/>
                <a:ea typeface="Brygada 1918 Bold" pitchFamily="34" charset="-122"/>
                <a:cs typeface="Brygada 1918 Bold" pitchFamily="34" charset="-120"/>
              </a:rPr>
              <a:t>Incremento de Eficiencia</a:t>
            </a:r>
            <a:endParaRPr lang="en-US" sz="1850" dirty="0"/>
          </a:p>
        </p:txBody>
      </p:sp>
      <p:sp>
        <p:nvSpPr>
          <p:cNvPr id="8" name="Shape 4"/>
          <p:cNvSpPr/>
          <p:nvPr>
            <p:custDataLst>
              <p:tags r:id="rId7"/>
            </p:custDataLst>
          </p:nvPr>
        </p:nvSpPr>
        <p:spPr>
          <a:xfrm>
            <a:off x="622935" y="3926324"/>
            <a:ext cx="400407" cy="400407"/>
          </a:xfrm>
          <a:prstGeom prst="roundRect">
            <a:avLst>
              <a:gd name="adj" fmla="val 6668"/>
            </a:avLst>
          </a:prstGeom>
          <a:solidFill>
            <a:srgbClr val="4D1529"/>
          </a:solidFill>
        </p:spPr>
      </p:sp>
      <p:pic>
        <p:nvPicPr>
          <p:cNvPr id="9" name="Image 2" descr="preencoded.png"/>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680680" y="3984069"/>
            <a:ext cx="284798" cy="284798"/>
          </a:xfrm>
          <a:prstGeom prst="rect">
            <a:avLst/>
          </a:prstGeom>
        </p:spPr>
      </p:pic>
      <p:sp>
        <p:nvSpPr>
          <p:cNvPr id="10" name="Text 5"/>
          <p:cNvSpPr/>
          <p:nvPr>
            <p:custDataLst>
              <p:tags r:id="rId11"/>
            </p:custDataLst>
          </p:nvPr>
        </p:nvSpPr>
        <p:spPr>
          <a:xfrm>
            <a:off x="1201341" y="3987403"/>
            <a:ext cx="3469362" cy="296585"/>
          </a:xfrm>
          <a:prstGeom prst="rect">
            <a:avLst/>
          </a:prstGeom>
          <a:noFill/>
        </p:spPr>
        <p:txBody>
          <a:bodyPr wrap="none" lIns="0" tIns="0" rIns="0" bIns="0" rtlCol="0" anchor="t"/>
          <a:lstStyle/>
          <a:p>
            <a:pPr marL="0" indent="0" algn="l">
              <a:lnSpc>
                <a:spcPts val="2300"/>
              </a:lnSpc>
              <a:buNone/>
            </a:pPr>
            <a:r>
              <a:rPr lang="en-US" sz="1850" b="1" dirty="0">
                <a:solidFill>
                  <a:srgbClr val="F4CAB8"/>
                </a:solidFill>
                <a:latin typeface="Brygada 1918 Bold" pitchFamily="34" charset="0"/>
                <a:ea typeface="Brygada 1918 Bold" pitchFamily="34" charset="-122"/>
                <a:cs typeface="Brygada 1918 Bold" pitchFamily="34" charset="-120"/>
              </a:rPr>
              <a:t>Reducción Drástica de Errores</a:t>
            </a:r>
            <a:endParaRPr lang="en-US" sz="1850" dirty="0"/>
          </a:p>
        </p:txBody>
      </p:sp>
      <p:sp>
        <p:nvSpPr>
          <p:cNvPr id="12" name="Shape 7"/>
          <p:cNvSpPr/>
          <p:nvPr>
            <p:custDataLst>
              <p:tags r:id="rId12"/>
            </p:custDataLst>
          </p:nvPr>
        </p:nvSpPr>
        <p:spPr>
          <a:xfrm>
            <a:off x="622935" y="5316379"/>
            <a:ext cx="400407" cy="400407"/>
          </a:xfrm>
          <a:prstGeom prst="roundRect">
            <a:avLst>
              <a:gd name="adj" fmla="val 6668"/>
            </a:avLst>
          </a:prstGeom>
          <a:solidFill>
            <a:srgbClr val="4D1529"/>
          </a:solidFill>
        </p:spPr>
      </p:sp>
      <p:pic>
        <p:nvPicPr>
          <p:cNvPr id="13" name="Image 3" descr="preencoded.png"/>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680680" y="5374124"/>
            <a:ext cx="284798" cy="284798"/>
          </a:xfrm>
          <a:prstGeom prst="rect">
            <a:avLst/>
          </a:prstGeom>
        </p:spPr>
      </p:pic>
      <p:sp>
        <p:nvSpPr>
          <p:cNvPr id="14" name="Text 8"/>
          <p:cNvSpPr/>
          <p:nvPr>
            <p:custDataLst>
              <p:tags r:id="rId16"/>
            </p:custDataLst>
          </p:nvPr>
        </p:nvSpPr>
        <p:spPr>
          <a:xfrm>
            <a:off x="1201341" y="5377458"/>
            <a:ext cx="3255050" cy="296585"/>
          </a:xfrm>
          <a:prstGeom prst="rect">
            <a:avLst/>
          </a:prstGeom>
          <a:noFill/>
        </p:spPr>
        <p:txBody>
          <a:bodyPr wrap="none" lIns="0" tIns="0" rIns="0" bIns="0" rtlCol="0" anchor="t"/>
          <a:lstStyle/>
          <a:p>
            <a:pPr marL="0" indent="0" algn="l">
              <a:lnSpc>
                <a:spcPts val="2300"/>
              </a:lnSpc>
              <a:buNone/>
            </a:pPr>
            <a:r>
              <a:rPr lang="en-US" sz="1850" b="1" dirty="0">
                <a:solidFill>
                  <a:srgbClr val="F4CAB8"/>
                </a:solidFill>
                <a:latin typeface="Brygada 1918 Bold" pitchFamily="34" charset="0"/>
                <a:ea typeface="Brygada 1918 Bold" pitchFamily="34" charset="-122"/>
                <a:cs typeface="Brygada 1918 Bold" pitchFamily="34" charset="-120"/>
              </a:rPr>
              <a:t>Automatización del Registro</a:t>
            </a:r>
            <a:endParaRPr lang="en-US" sz="1850" dirty="0"/>
          </a:p>
        </p:txBody>
      </p:sp>
      <p:sp>
        <p:nvSpPr>
          <p:cNvPr id="16" name="Shape 10"/>
          <p:cNvSpPr/>
          <p:nvPr>
            <p:custDataLst>
              <p:tags r:id="rId17"/>
            </p:custDataLst>
          </p:nvPr>
        </p:nvSpPr>
        <p:spPr>
          <a:xfrm>
            <a:off x="622935" y="6706433"/>
            <a:ext cx="400407" cy="400407"/>
          </a:xfrm>
          <a:prstGeom prst="roundRect">
            <a:avLst>
              <a:gd name="adj" fmla="val 6668"/>
            </a:avLst>
          </a:prstGeom>
          <a:solidFill>
            <a:srgbClr val="4D1529"/>
          </a:solidFill>
        </p:spPr>
      </p:sp>
      <p:pic>
        <p:nvPicPr>
          <p:cNvPr id="17" name="Image 4" descr="preencoded.png"/>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680680" y="6764179"/>
            <a:ext cx="284798" cy="284798"/>
          </a:xfrm>
          <a:prstGeom prst="rect">
            <a:avLst/>
          </a:prstGeom>
        </p:spPr>
      </p:pic>
      <p:sp>
        <p:nvSpPr>
          <p:cNvPr id="18" name="Text 11"/>
          <p:cNvSpPr/>
          <p:nvPr>
            <p:custDataLst>
              <p:tags r:id="rId21"/>
            </p:custDataLst>
          </p:nvPr>
        </p:nvSpPr>
        <p:spPr>
          <a:xfrm>
            <a:off x="1201341" y="6767513"/>
            <a:ext cx="3844647" cy="296585"/>
          </a:xfrm>
          <a:prstGeom prst="rect">
            <a:avLst/>
          </a:prstGeom>
          <a:noFill/>
        </p:spPr>
        <p:txBody>
          <a:bodyPr wrap="none" lIns="0" tIns="0" rIns="0" bIns="0" rtlCol="0" anchor="t"/>
          <a:lstStyle/>
          <a:p>
            <a:pPr marL="0" indent="0" algn="l">
              <a:lnSpc>
                <a:spcPts val="2300"/>
              </a:lnSpc>
              <a:buNone/>
            </a:pPr>
            <a:r>
              <a:rPr lang="en-US" sz="1850" b="1" dirty="0">
                <a:solidFill>
                  <a:srgbClr val="F4CAB8"/>
                </a:solidFill>
                <a:latin typeface="Brygada 1918 Bold" pitchFamily="34" charset="0"/>
                <a:ea typeface="Brygada 1918 Bold" pitchFamily="34" charset="-122"/>
                <a:cs typeface="Brygada 1918 Bold" pitchFamily="34" charset="-120"/>
              </a:rPr>
              <a:t>Análisis y Trazabilidad Mejorados</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9260" y="1195388"/>
            <a:ext cx="8112681" cy="713542"/>
          </a:xfrm>
          <a:prstGeom prst="rect">
            <a:avLst/>
          </a:prstGeom>
          <a:noFill/>
        </p:spPr>
        <p:txBody>
          <a:bodyPr wrap="none" lIns="0" tIns="0" rIns="0" bIns="0" rtlCol="0" anchor="t"/>
          <a:lstStyle/>
          <a:p>
            <a:pPr marL="0" indent="0" algn="l">
              <a:lnSpc>
                <a:spcPts val="5600"/>
              </a:lnSpc>
              <a:buNone/>
            </a:pPr>
            <a:r>
              <a:rPr lang="en-US" sz="4450" b="1" dirty="0">
                <a:solidFill>
                  <a:srgbClr val="FFB393"/>
                </a:solidFill>
                <a:latin typeface="Brygada 1918 Bold" pitchFamily="34" charset="0"/>
                <a:ea typeface="Brygada 1918 Bold" pitchFamily="34" charset="-122"/>
                <a:cs typeface="Brygada 1918 Bold" pitchFamily="34" charset="-120"/>
              </a:rPr>
              <a:t>Conclusiones y Demostración</a:t>
            </a:r>
            <a:endParaRPr lang="en-US" sz="4450" dirty="0"/>
          </a:p>
        </p:txBody>
      </p:sp>
      <p:sp>
        <p:nvSpPr>
          <p:cNvPr id="3" name="Text 1"/>
          <p:cNvSpPr/>
          <p:nvPr/>
        </p:nvSpPr>
        <p:spPr>
          <a:xfrm>
            <a:off x="749300" y="2488565"/>
            <a:ext cx="11817350" cy="1027430"/>
          </a:xfrm>
          <a:prstGeom prst="rect">
            <a:avLst/>
          </a:prstGeom>
          <a:noFill/>
        </p:spPr>
        <p:txBody>
          <a:bodyPr wrap="square" lIns="0" tIns="0" rIns="0" bIns="0" rtlCol="0" anchor="t"/>
          <a:lstStyle/>
          <a:p>
            <a:pPr marL="0" indent="0" algn="l">
              <a:lnSpc>
                <a:spcPts val="2650"/>
              </a:lnSpc>
              <a:buNone/>
            </a:pPr>
            <a:r>
              <a:rPr lang="es-MX" altLang="en-US" sz="2400" dirty="0">
                <a:solidFill>
                  <a:schemeClr val="accent2">
                    <a:lumMod val="60000"/>
                    <a:lumOff val="40000"/>
                  </a:schemeClr>
                </a:solidFill>
              </a:rPr>
              <a:t>El fin del modelo es facilitar el registro productos sin la necesitada de realizarlo manualmente</a:t>
            </a:r>
            <a:endParaRPr lang="es-MX" altLang="en-US" sz="2400" dirty="0">
              <a:solidFill>
                <a:schemeClr val="accent2">
                  <a:lumMod val="60000"/>
                  <a:lumOff val="40000"/>
                </a:schemeClr>
              </a:solidFill>
            </a:endParaRPr>
          </a:p>
        </p:txBody>
      </p:sp>
      <p:pic>
        <p:nvPicPr>
          <p:cNvPr id="4" name="Image 0" descr="preencoded.png"/>
          <p:cNvPicPr>
            <a:picLocks noChangeAspect="1"/>
          </p:cNvPicPr>
          <p:nvPr/>
        </p:nvPicPr>
        <p:blipFill>
          <a:blip r:embed="rId1"/>
          <a:stretch>
            <a:fillRect/>
          </a:stretch>
        </p:blipFill>
        <p:spPr>
          <a:xfrm>
            <a:off x="756880" y="3743444"/>
            <a:ext cx="4823341" cy="2569131"/>
          </a:xfrm>
          <a:prstGeom prst="rect">
            <a:avLst/>
          </a:prstGeom>
        </p:spPr>
      </p:pic>
      <p:pic>
        <p:nvPicPr>
          <p:cNvPr id="5" name="Image 1" descr="preencoded.png"/>
          <p:cNvPicPr>
            <a:picLocks noChangeAspect="1"/>
          </p:cNvPicPr>
          <p:nvPr/>
        </p:nvPicPr>
        <p:blipFill>
          <a:blip r:embed="rId2"/>
          <a:stretch>
            <a:fillRect/>
          </a:stretch>
        </p:blipFill>
        <p:spPr>
          <a:xfrm>
            <a:off x="5751433" y="3743444"/>
            <a:ext cx="3975497" cy="2569131"/>
          </a:xfrm>
          <a:prstGeom prst="rect">
            <a:avLst/>
          </a:prstGeom>
        </p:spPr>
      </p:pic>
      <p:pic>
        <p:nvPicPr>
          <p:cNvPr id="6" name="Image 2" descr="preencoded.png"/>
          <p:cNvPicPr>
            <a:picLocks noChangeAspect="1"/>
          </p:cNvPicPr>
          <p:nvPr/>
        </p:nvPicPr>
        <p:blipFill>
          <a:blip r:embed="rId3"/>
          <a:stretch>
            <a:fillRect/>
          </a:stretch>
        </p:blipFill>
        <p:spPr>
          <a:xfrm>
            <a:off x="9898142" y="3743444"/>
            <a:ext cx="3975497" cy="2569131"/>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409.78125984251966,&quot;left&quot;:49.05,&quot;top&quot;:199.70622047244095,&quot;width&quot;:621.9}"/>
</p:tagLst>
</file>

<file path=ppt/tags/tag2.xml><?xml version="1.0" encoding="utf-8"?>
<p:tagLst xmlns:p="http://schemas.openxmlformats.org/presentationml/2006/main">
  <p:tag name="KSO_WM_DIAGRAM_VIRTUALLY_FRAME" val="{&quot;height&quot;:409.78125984251966,&quot;left&quot;:49.05,&quot;top&quot;:199.70622047244095,&quot;width&quot;:621.9}"/>
</p:tagLst>
</file>

<file path=ppt/tags/tag3.xml><?xml version="1.0" encoding="utf-8"?>
<p:tagLst xmlns:p="http://schemas.openxmlformats.org/presentationml/2006/main">
  <p:tag name="KSO_WM_DIAGRAM_VIRTUALLY_FRAME" val="{&quot;height&quot;:409.78125984251966,&quot;left&quot;:49.05,&quot;top&quot;:199.70622047244095,&quot;width&quot;:621.9}"/>
</p:tagLst>
</file>

<file path=ppt/tags/tag4.xml><?xml version="1.0" encoding="utf-8"?>
<p:tagLst xmlns:p="http://schemas.openxmlformats.org/presentationml/2006/main">
  <p:tag name="KSO_WM_DIAGRAM_VIRTUALLY_FRAME" val="{&quot;height&quot;:409.78125984251966,&quot;left&quot;:49.05,&quot;top&quot;:199.70622047244095,&quot;width&quot;:621.9}"/>
</p:tagLst>
</file>

<file path=ppt/tags/tag5.xml><?xml version="1.0" encoding="utf-8"?>
<p:tagLst xmlns:p="http://schemas.openxmlformats.org/presentationml/2006/main">
  <p:tag name="KSO_WM_DIAGRAM_VIRTUALLY_FRAME" val="{&quot;height&quot;:409.78125984251966,&quot;left&quot;:49.05,&quot;top&quot;:199.70622047244095,&quot;width&quot;:621.9}"/>
</p:tagLst>
</file>

<file path=ppt/tags/tag6.xml><?xml version="1.0" encoding="utf-8"?>
<p:tagLst xmlns:p="http://schemas.openxmlformats.org/presentationml/2006/main">
  <p:tag name="KSO_WM_DIAGRAM_VIRTUALLY_FRAME" val="{&quot;height&quot;:409.78125984251966,&quot;left&quot;:49.05,&quot;top&quot;:199.70622047244095,&quot;width&quot;:621.9}"/>
</p:tagLst>
</file>

<file path=ppt/tags/tag7.xml><?xml version="1.0" encoding="utf-8"?>
<p:tagLst xmlns:p="http://schemas.openxmlformats.org/presentationml/2006/main">
  <p:tag name="KSO_WM_DIAGRAM_VIRTUALLY_FRAME" val="{&quot;height&quot;:409.78125984251966,&quot;left&quot;:49.05,&quot;top&quot;:199.70622047244095,&quot;width&quot;:621.9}"/>
</p:tagLst>
</file>

<file path=ppt/tags/tag8.xml><?xml version="1.0" encoding="utf-8"?>
<p:tagLst xmlns:p="http://schemas.openxmlformats.org/presentationml/2006/main">
  <p:tag name="KSO_WM_DIAGRAM_VIRTUALLY_FRAME" val="{&quot;height&quot;:409.78125984251966,&quot;left&quot;:49.05,&quot;top&quot;:199.70622047244095,&quot;width&quot;:621.9}"/>
</p:tagLst>
</file>

<file path=ppt/tags/tag9.xml><?xml version="1.0" encoding="utf-8"?>
<p:tagLst xmlns:p="http://schemas.openxmlformats.org/presentationml/2006/main">
  <p:tag name="KSO_WM_DIAGRAM_VIRTUALLY_FRAME" val="{&quot;height&quot;:409.78125984251966,&quot;left&quot;:49.05,&quot;top&quot;:199.70622047244095,&quot;width&quot;:621.9}"/>
</p:tagLst>
</file>

<file path=ppt/tags/tag10.xml><?xml version="1.0" encoding="utf-8"?>
<p:tagLst xmlns:p="http://schemas.openxmlformats.org/presentationml/2006/main">
  <p:tag name="KSO_WM_DIAGRAM_VIRTUALLY_FRAME" val="{&quot;height&quot;:409.78125984251966,&quot;left&quot;:49.05,&quot;top&quot;:199.70622047244095,&quot;width&quot;:621.9}"/>
</p:tagLst>
</file>

<file path=ppt/tags/tag11.xml><?xml version="1.0" encoding="utf-8"?>
<p:tagLst xmlns:p="http://schemas.openxmlformats.org/presentationml/2006/main">
  <p:tag name="KSO_WM_DIAGRAM_VIRTUALLY_FRAME" val="{&quot;height&quot;:409.78125984251966,&quot;left&quot;:49.05,&quot;top&quot;:199.70622047244095,&quot;width&quot;:621.9}"/>
</p:tagLst>
</file>

<file path=ppt/tags/tag12.xml><?xml version="1.0" encoding="utf-8"?>
<p:tagLst xmlns:p="http://schemas.openxmlformats.org/presentationml/2006/main">
  <p:tag name="KSO_WM_DIAGRAM_VIRTUALLY_FRAME" val="{&quot;height&quot;:409.78125984251966,&quot;left&quot;:49.05,&quot;top&quot;:199.70622047244095,&quot;width&quot;:621.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1284</Words>
  <Application>WPS Presentation</Application>
  <PresentationFormat>On-screen Show (16:9)</PresentationFormat>
  <Paragraphs>61</Paragraphs>
  <Slides>6</Slides>
  <Notes>6</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6</vt:i4>
      </vt:variant>
    </vt:vector>
  </HeadingPairs>
  <TitlesOfParts>
    <vt:vector size="24" baseType="lpstr">
      <vt:lpstr>Arial</vt:lpstr>
      <vt:lpstr>SimSun</vt:lpstr>
      <vt:lpstr>Wingdings</vt:lpstr>
      <vt:lpstr>Brygada 1918 Bold</vt:lpstr>
      <vt:lpstr>Ankh Sanctuary</vt:lpstr>
      <vt:lpstr>Brygada 1918 Bold</vt:lpstr>
      <vt:lpstr>Brygada 1918 Bold</vt:lpstr>
      <vt:lpstr>Montserrat Medium</vt:lpstr>
      <vt:lpstr>Montserrat Medium</vt:lpstr>
      <vt:lpstr>Montserrat Medium</vt:lpstr>
      <vt:lpstr>Brygada 1918 Light</vt:lpstr>
      <vt:lpstr>Brygada 1918 Light</vt:lpstr>
      <vt:lpstr>Brygada 1918 Light</vt:lpstr>
      <vt:lpstr>Calibri</vt:lpstr>
      <vt:lpstr>Microsoft YaHei</vt:lpstr>
      <vt:lpstr>Arial Unicode MS</vt:lpstr>
      <vt:lpstr>MingLiU-ExtB</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Alexis Torres Cruz</cp:lastModifiedBy>
  <cp:revision>2</cp:revision>
  <dcterms:created xsi:type="dcterms:W3CDTF">2025-11-18T14:28:00Z</dcterms:created>
  <dcterms:modified xsi:type="dcterms:W3CDTF">2025-11-18T15:05:31Z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14744B62DB8C4DD7B79C1AD968DA84D6_12</vt:lpwstr>
  </property>
  <property fmtid="{D5CDD505-2E9C-101B-9397-08002B2CF9AE}" pid="3" name="KSOProductBuildVer">
    <vt:lpwstr>3082-12.2.0.23149</vt:lpwstr>
  </property>
</Properties>
</file>